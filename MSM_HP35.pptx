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Inter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8AB4DE-659D-4501-A775-EF03DCB6226C}">
  <a:tblStyle styleId="{808AB4DE-659D-4501-A775-EF03DCB6226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slide" Target="slides/slide20.xml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1d1d28b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1d1d28b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09a2e61b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09a2e61b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557fba1c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557fba1c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557fba1c1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557fba1c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3b262a9ae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3b262a9ae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557fba1c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557fba1c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1d1d28b0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1d1d28b0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557fba1c1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557fba1c1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09a2e61b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f09a2e61b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3b262a9ae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f3b262a9ae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557fba1c1_5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f557fba1c1_5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09a2e61b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f09a2e61b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3b262a9ae_1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f3b262a9ae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557fba1c1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f557fba1c1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557fba1c1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f557fba1c1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557fba1c1_0_38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f557fba1c1_0_387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f557fba1c1_0_38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f557fba1c1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f557fba1c1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f557fba1c1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f557fba1c1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557fba1c1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f557fba1c1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8.png"/><Relationship Id="rId7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hyperlink" Target="http://drive.google.com/file/d/15y1vbljcs4CrSNt1aI9CFmtapTuzYU5b/view" TargetMode="External"/><Relationship Id="rId5" Type="http://schemas.openxmlformats.org/officeDocument/2006/relationships/image" Target="../media/image5.jp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255525" y="1843850"/>
            <a:ext cx="5538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it" sz="3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Markov State Modelling of the HP35 domain</a:t>
            </a:r>
            <a:endParaRPr b="1" sz="3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255525" y="3342150"/>
            <a:ext cx="4669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Student:</a:t>
            </a:r>
            <a:r>
              <a:rPr b="1" lang="it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Miriam Zara </a:t>
            </a:r>
            <a:r>
              <a:rPr lang="it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it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ID 2163328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Instructor:</a:t>
            </a:r>
            <a:r>
              <a:rPr b="1" lang="it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Prof. Monika Fuxreiter, PhD</a:t>
            </a:r>
            <a:endParaRPr b="1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Academic year 2025-2026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14" title="Screenshot 2026-07-18 at 14.47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6825" y="254763"/>
            <a:ext cx="680698" cy="519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niversità_Padova.svg – 800 anni unipd" id="58" name="Google Shape;5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9802" y="174200"/>
            <a:ext cx="680698" cy="6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/>
        </p:nvSpPr>
        <p:spPr>
          <a:xfrm>
            <a:off x="255525" y="1347750"/>
            <a:ext cx="5538600" cy="4002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BIOLOGICAL DATASETS FOR COMPUTATIONAL PHYSICS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6102425" y="4157775"/>
            <a:ext cx="2381400" cy="65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A61C00"/>
                </a:solidFill>
                <a:latin typeface="Inter"/>
                <a:ea typeface="Inter"/>
                <a:cs typeface="Inter"/>
                <a:sym typeface="Inter"/>
              </a:rPr>
              <a:t>PDB 2F4K </a:t>
            </a:r>
            <a:endParaRPr sz="95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it" sz="95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J. Kubelka, T.K. Chiu, D.R. Davies et al.</a:t>
            </a:r>
            <a:endParaRPr sz="95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i="1" lang="it" sz="950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Sub-microsecond protein folding, J. Mol. Biol. 2006</a:t>
            </a:r>
            <a:endParaRPr i="1" sz="950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1" name="Google Shape;61;p14" title="Screenshot 2026-07-18 at 09.30.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9238" y="2635462"/>
            <a:ext cx="1689786" cy="1476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120600" y="314438"/>
            <a:ext cx="359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HP35 (Nle/Nle mutant)</a:t>
            </a:r>
            <a:endParaRPr b="1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217200" y="2414300"/>
            <a:ext cx="5066700" cy="26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Villin headpiece subdomain (HP35)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Established case study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35 residues, ultra fast autonomously folding domain: &lt;</a:t>
            </a:r>
            <a:r>
              <a:rPr b="1" lang="it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mus</a:t>
            </a:r>
            <a:r>
              <a:rPr lang="it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in the Nle/Nle mutant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Biological question:</a:t>
            </a:r>
            <a:endParaRPr b="1" sz="1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it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oes HP35 have resolvable metastable substructure (long-lived states that are structurally well defined) </a:t>
            </a:r>
            <a:r>
              <a:rPr lang="it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beyond simply folded and unfolded?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r>
              <a:rPr i="1" lang="it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Markov State Modelling (MSM) on a single </a:t>
            </a:r>
            <a:r>
              <a:rPr b="1" lang="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300 mus</a:t>
            </a:r>
            <a:r>
              <a:rPr lang="it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MD  trajectory at T=360K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Methodological question: </a:t>
            </a:r>
            <a:r>
              <a:rPr lang="it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How does the MSM pipeline affect the </a:t>
            </a:r>
            <a:r>
              <a:rPr lang="it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r>
              <a:rPr lang="it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217198" y="174200"/>
            <a:ext cx="11007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18C"/>
              </a:buClr>
              <a:buSzPts val="800"/>
              <a:buFont typeface="Calibri"/>
              <a:buNone/>
            </a:pPr>
            <a:r>
              <a:rPr lang="it" sz="1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i="0" sz="1000" u="none" cap="none" strike="noStrike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15" title="Screenshot 2026-07-18 at 14.47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6825" y="254763"/>
            <a:ext cx="680698" cy="519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niversità_Padova.svg – 800 anni unipd"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9802" y="174200"/>
            <a:ext cx="680698" cy="6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5641626" y="884163"/>
            <a:ext cx="33030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A61C00"/>
                </a:solidFill>
                <a:latin typeface="Inter"/>
                <a:ea typeface="Inter"/>
                <a:cs typeface="Inter"/>
                <a:sym typeface="Inter"/>
              </a:rPr>
              <a:t>Data:</a:t>
            </a:r>
            <a:endParaRPr b="1" sz="1000">
              <a:solidFill>
                <a:srgbClr val="A61C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original</a:t>
            </a:r>
            <a:r>
              <a:rPr i="1" lang="it" sz="9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i="1" lang="it" sz="900">
                <a:solidFill>
                  <a:srgbClr val="A61C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it" sz="9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K. Lindorff-Larsen, S. Piana, R.O. Dror and D.E. Shaw, </a:t>
            </a:r>
            <a:r>
              <a:rPr i="1" lang="it" sz="900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How fast-folding proteins fold, Science 2011</a:t>
            </a:r>
            <a:endParaRPr i="1" sz="900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900">
                <a:solidFill>
                  <a:srgbClr val="A61C00"/>
                </a:solidFill>
                <a:latin typeface="Inter"/>
                <a:ea typeface="Inter"/>
                <a:cs typeface="Inter"/>
                <a:sym typeface="Inter"/>
              </a:rPr>
              <a:t>preprocessed</a:t>
            </a:r>
            <a:r>
              <a:rPr i="1" lang="it" sz="900">
                <a:solidFill>
                  <a:srgbClr val="A61C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it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it" sz="9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D. Nagel, S. Sartore, and G. Stock, </a:t>
            </a:r>
            <a:r>
              <a:rPr i="1" lang="it" sz="900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Selecting Features for Markov Modeling: A Case Study on HP35, J. of Chem. Theory and Comp. 2023</a:t>
            </a:r>
            <a:endParaRPr i="1" sz="900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2" name="Google Shape;72;p15" title="Screenshot 2026-07-18 at 16.40.4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028" y="972388"/>
            <a:ext cx="5210821" cy="124464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 rot="-5400000">
            <a:off x="115800" y="1421080"/>
            <a:ext cx="2964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89675" lIns="89675" spcFirstLastPara="1" rIns="89675" wrap="square" tIns="8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68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nm</a:t>
            </a:r>
            <a:endParaRPr sz="687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5" title="Screenshot 2026-07-18 at 09.30.4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9238" y="2635462"/>
            <a:ext cx="1689786" cy="147651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6102425" y="4157775"/>
            <a:ext cx="2381400" cy="65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A61C00"/>
                </a:solidFill>
                <a:latin typeface="Inter"/>
                <a:ea typeface="Inter"/>
                <a:cs typeface="Inter"/>
                <a:sym typeface="Inter"/>
              </a:rPr>
              <a:t>PDB 2F4K </a:t>
            </a:r>
            <a:endParaRPr sz="95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it" sz="95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J. Kubelka, T.K. Chiu, D.R. Davies et al.</a:t>
            </a:r>
            <a:endParaRPr sz="95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i="1" lang="it" sz="950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Sub-microsecond protein folding, J. Mol. Biol. 2006</a:t>
            </a:r>
            <a:endParaRPr i="1" sz="950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8207525" y="2115850"/>
            <a:ext cx="680700" cy="51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>
                <a:latin typeface="Calibri"/>
                <a:ea typeface="Calibri"/>
                <a:cs typeface="Calibri"/>
                <a:sym typeface="Calibri"/>
              </a:rPr>
              <a:t>timestep approx. 200 ps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 title="Screenshot 2026-06-28 at 17.41.13.png"/>
          <p:cNvPicPr preferRelativeResize="0"/>
          <p:nvPr/>
        </p:nvPicPr>
        <p:blipFill rotWithShape="1">
          <a:blip r:embed="rId3">
            <a:alphaModFix/>
          </a:blip>
          <a:srcRect b="55097" l="51489" r="27330" t="8124"/>
          <a:stretch/>
        </p:blipFill>
        <p:spPr>
          <a:xfrm>
            <a:off x="3060785" y="2006741"/>
            <a:ext cx="1198985" cy="1414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 title="Screenshot 2026-07-18 at 14.47.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6825" y="254763"/>
            <a:ext cx="680698" cy="519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niversità_Padova.svg – 800 anni unipd" id="83" name="Google Shape;8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79802" y="174200"/>
            <a:ext cx="680698" cy="6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120600" y="314438"/>
            <a:ext cx="359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The MSM pipeline has no unique recipe (yet)</a:t>
            </a:r>
            <a:endParaRPr b="1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217198" y="174200"/>
            <a:ext cx="11007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18C"/>
              </a:buClr>
              <a:buSzPts val="800"/>
              <a:buFont typeface="Calibri"/>
              <a:buNone/>
            </a:pPr>
            <a:r>
              <a:rPr lang="it" sz="1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i="0" sz="1000" u="none" cap="none" strike="noStrike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279749" y="1668355"/>
            <a:ext cx="13476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32B"/>
              </a:buClr>
              <a:buSzPts val="1120"/>
              <a:buFont typeface="Calibri"/>
              <a:buNone/>
            </a:pPr>
            <a:r>
              <a:rPr b="1" i="0" lang="it" sz="112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i="0" sz="11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1377869" y="1168108"/>
            <a:ext cx="34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BCC8"/>
              </a:buClr>
              <a:buSzPts val="1680"/>
              <a:buFont typeface="Calibri"/>
              <a:buNone/>
            </a:pPr>
            <a:r>
              <a:rPr i="0" lang="it" sz="1680" u="none" cap="none" strike="noStrike">
                <a:solidFill>
                  <a:srgbClr val="C0BCC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i="0" sz="16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1470237" y="1644424"/>
            <a:ext cx="13476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32B"/>
              </a:buClr>
              <a:buSzPts val="1120"/>
              <a:buFont typeface="Calibri"/>
              <a:buNone/>
            </a:pPr>
            <a:r>
              <a:rPr b="1" i="0" lang="it" sz="112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Reduce</a:t>
            </a:r>
            <a:endParaRPr i="0" sz="11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2730744" y="1168108"/>
            <a:ext cx="34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BCC8"/>
              </a:buClr>
              <a:buSzPts val="1680"/>
              <a:buFont typeface="Calibri"/>
              <a:buNone/>
            </a:pPr>
            <a:r>
              <a:rPr i="0" lang="it" sz="1680" u="none" cap="none" strike="noStrike">
                <a:solidFill>
                  <a:srgbClr val="C0BCC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i="0" sz="16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2986590" y="1644424"/>
            <a:ext cx="13476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32B"/>
              </a:buClr>
              <a:buSzPts val="1120"/>
              <a:buFont typeface="Calibri"/>
              <a:buNone/>
            </a:pPr>
            <a:r>
              <a:rPr b="1" i="0" lang="it" sz="112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Cluster</a:t>
            </a:r>
            <a:endParaRPr i="0" sz="11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5185685" y="1192083"/>
            <a:ext cx="34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BCC8"/>
              </a:buClr>
              <a:buSzPts val="1680"/>
              <a:buFont typeface="Calibri"/>
              <a:buNone/>
            </a:pPr>
            <a:r>
              <a:rPr i="0" lang="it" sz="1680" u="none" cap="none" strike="noStrike">
                <a:solidFill>
                  <a:srgbClr val="C0BCC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i="0" sz="16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6379868" y="1644424"/>
            <a:ext cx="13476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32B"/>
              </a:buClr>
              <a:buSzPts val="1120"/>
              <a:buFont typeface="Calibri"/>
              <a:buNone/>
            </a:pPr>
            <a:r>
              <a:rPr b="1" i="0" lang="it" sz="112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Transition matrix</a:t>
            </a:r>
            <a:endParaRPr i="0" sz="11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806307" y="1206318"/>
            <a:ext cx="365100" cy="355500"/>
          </a:xfrm>
          <a:prstGeom prst="ellipse">
            <a:avLst/>
          </a:prstGeom>
          <a:solidFill>
            <a:srgbClr val="A61C00"/>
          </a:solidFill>
          <a:ln>
            <a:noFill/>
          </a:ln>
        </p:spPr>
        <p:txBody>
          <a:bodyPr anchorCtr="0" anchor="ctr" bIns="102425" lIns="102425" spcFirstLastPara="1" rIns="102425" wrap="square" tIns="102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44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344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6" title="Screenshot 2026-06-28 at 17.41.13.png"/>
          <p:cNvPicPr preferRelativeResize="0"/>
          <p:nvPr/>
        </p:nvPicPr>
        <p:blipFill rotWithShape="1">
          <a:blip r:embed="rId3">
            <a:alphaModFix/>
          </a:blip>
          <a:srcRect b="55097" l="21783" r="52325" t="8124"/>
          <a:stretch/>
        </p:blipFill>
        <p:spPr>
          <a:xfrm>
            <a:off x="1556852" y="1960397"/>
            <a:ext cx="1372804" cy="1324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title="Screenshot 2026-06-28 at 17.41.13.png"/>
          <p:cNvPicPr preferRelativeResize="0"/>
          <p:nvPr/>
        </p:nvPicPr>
        <p:blipFill rotWithShape="1">
          <a:blip r:embed="rId3">
            <a:alphaModFix/>
          </a:blip>
          <a:srcRect b="55097" l="76188" r="0" t="8124"/>
          <a:stretch/>
        </p:blipFill>
        <p:spPr>
          <a:xfrm>
            <a:off x="6379591" y="2006741"/>
            <a:ext cx="1347934" cy="141406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1996708" y="1182388"/>
            <a:ext cx="365100" cy="355500"/>
          </a:xfrm>
          <a:prstGeom prst="ellipse">
            <a:avLst/>
          </a:prstGeom>
          <a:solidFill>
            <a:srgbClr val="A61C00"/>
          </a:solidFill>
          <a:ln>
            <a:noFill/>
          </a:ln>
        </p:spPr>
        <p:txBody>
          <a:bodyPr anchorCtr="0" anchor="ctr" bIns="102425" lIns="102425" spcFirstLastPara="1" rIns="102425" wrap="square" tIns="102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44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344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3513070" y="1160375"/>
            <a:ext cx="365100" cy="355500"/>
          </a:xfrm>
          <a:prstGeom prst="ellipse">
            <a:avLst/>
          </a:prstGeom>
          <a:solidFill>
            <a:srgbClr val="A61C00"/>
          </a:solidFill>
          <a:ln>
            <a:noFill/>
          </a:ln>
        </p:spPr>
        <p:txBody>
          <a:bodyPr anchorCtr="0" anchor="ctr" bIns="102425" lIns="102425" spcFirstLastPara="1" rIns="102425" wrap="square" tIns="102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44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344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6836111" y="1160375"/>
            <a:ext cx="365100" cy="355500"/>
          </a:xfrm>
          <a:prstGeom prst="ellipse">
            <a:avLst/>
          </a:prstGeom>
          <a:solidFill>
            <a:srgbClr val="A61C00"/>
          </a:solidFill>
          <a:ln>
            <a:noFill/>
          </a:ln>
        </p:spPr>
        <p:txBody>
          <a:bodyPr anchorCtr="0" anchor="ctr" bIns="102425" lIns="102425" spcFirstLastPara="1" rIns="102425" wrap="square" tIns="102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44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1344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405100" y="3589075"/>
            <a:ext cx="4022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PCA maximizes variance	: high amplitude motion = important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tICA maximizes autocorrelation: slow = important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Clustering algorithms rely on euclidean distance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good dimensionality reduction maps rapidly interconverting points close in the space: </a:t>
            </a:r>
            <a:r>
              <a:rPr b="1" lang="it" sz="11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“kinetic” distance ⩬ geometric distance</a:t>
            </a:r>
            <a:endParaRPr b="1" sz="11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6"/>
          <p:cNvPicPr preferRelativeResize="0"/>
          <p:nvPr/>
        </p:nvPicPr>
        <p:blipFill rotWithShape="1">
          <a:blip r:embed="rId6">
            <a:alphaModFix/>
          </a:blip>
          <a:srcRect b="0" l="4617" r="81981" t="16451"/>
          <a:stretch/>
        </p:blipFill>
        <p:spPr>
          <a:xfrm>
            <a:off x="575495" y="1982143"/>
            <a:ext cx="826039" cy="12809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16"/>
          <p:cNvCxnSpPr/>
          <p:nvPr/>
        </p:nvCxnSpPr>
        <p:spPr>
          <a:xfrm>
            <a:off x="405100" y="3420800"/>
            <a:ext cx="3929100" cy="0"/>
          </a:xfrm>
          <a:prstGeom prst="straightConnector1">
            <a:avLst/>
          </a:prstGeom>
          <a:noFill/>
          <a:ln cap="flat" cmpd="sng" w="38100">
            <a:solidFill>
              <a:srgbClr val="A61C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16"/>
          <p:cNvSpPr/>
          <p:nvPr/>
        </p:nvSpPr>
        <p:spPr>
          <a:xfrm rot="-1749996">
            <a:off x="7855870" y="1727608"/>
            <a:ext cx="342874" cy="383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BCC8"/>
              </a:buClr>
              <a:buSzPts val="1680"/>
              <a:buFont typeface="Calibri"/>
              <a:buNone/>
            </a:pPr>
            <a:r>
              <a:rPr i="0" lang="it" sz="1680" u="none" cap="none" strike="noStrike">
                <a:solidFill>
                  <a:srgbClr val="C0BCC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i="0" sz="16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7819072" y="2089983"/>
            <a:ext cx="34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BCC8"/>
              </a:buClr>
              <a:buSzPts val="1680"/>
              <a:buFont typeface="Calibri"/>
              <a:buNone/>
            </a:pPr>
            <a:r>
              <a:rPr i="0" lang="it" sz="1680" u="none" cap="none" strike="noStrike">
                <a:solidFill>
                  <a:srgbClr val="C0BCC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i="0" sz="16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7847572" y="2491433"/>
            <a:ext cx="34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BCC8"/>
              </a:buClr>
              <a:buSzPts val="1680"/>
              <a:buFont typeface="Calibri"/>
              <a:buNone/>
            </a:pPr>
            <a:r>
              <a:rPr i="0" lang="it" sz="1680" u="none" cap="none" strike="noStrike">
                <a:solidFill>
                  <a:srgbClr val="C0BCC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i="0" sz="16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 rot="1443245">
            <a:off x="7847564" y="2805224"/>
            <a:ext cx="342984" cy="384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BCC8"/>
              </a:buClr>
              <a:buSzPts val="1680"/>
              <a:buFont typeface="Calibri"/>
              <a:buNone/>
            </a:pPr>
            <a:r>
              <a:rPr i="0" lang="it" sz="1680" u="none" cap="none" strike="noStrike">
                <a:solidFill>
                  <a:srgbClr val="C0BCC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i="0" sz="16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8161975" y="2100975"/>
            <a:ext cx="85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900">
                <a:solidFill>
                  <a:srgbClr val="23232B"/>
                </a:solidFill>
                <a:latin typeface="Inter"/>
                <a:ea typeface="Inter"/>
                <a:cs typeface="Inter"/>
                <a:sym typeface="Inter"/>
              </a:rPr>
              <a:t>populations</a:t>
            </a:r>
            <a:endParaRPr b="1" i="1" sz="900">
              <a:solidFill>
                <a:srgbClr val="23232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8227675" y="2502425"/>
            <a:ext cx="75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lifetimes</a:t>
            </a:r>
            <a:endParaRPr i="1" sz="900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5185450" y="1749426"/>
            <a:ext cx="34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1" sz="2400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4526950" y="2267875"/>
            <a:ext cx="1659900" cy="354000"/>
          </a:xfrm>
          <a:prstGeom prst="rect">
            <a:avLst/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Garbage in, garbage out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8190475" y="2875425"/>
            <a:ext cx="83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pathways</a:t>
            </a:r>
            <a:endParaRPr i="1" sz="900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8161975" y="1749413"/>
            <a:ext cx="83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900">
                <a:solidFill>
                  <a:srgbClr val="23232B"/>
                </a:solidFill>
                <a:latin typeface="Inter"/>
                <a:ea typeface="Inter"/>
                <a:cs typeface="Inter"/>
                <a:sym typeface="Inter"/>
              </a:rPr>
              <a:t>structures</a:t>
            </a:r>
            <a:endParaRPr b="1" i="1" sz="900">
              <a:solidFill>
                <a:srgbClr val="23232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2928188" y="1419420"/>
            <a:ext cx="185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PCA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4917008" y="1419420"/>
            <a:ext cx="185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tICA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356438" y="1693740"/>
            <a:ext cx="2400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3232B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42 contact distances</a:t>
            </a:r>
            <a:endParaRPr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2928188" y="1693740"/>
            <a:ext cx="1851600" cy="425100"/>
          </a:xfrm>
          <a:prstGeom prst="roundRect">
            <a:avLst>
              <a:gd fmla="val 12903" name="adj"/>
            </a:avLst>
          </a:prstGeom>
          <a:solidFill>
            <a:srgbClr val="F4F1F7"/>
          </a:solidFill>
          <a:ln cap="flat" cmpd="sng" w="12700">
            <a:solidFill>
              <a:srgbClr val="F4F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2928188" y="1693740"/>
            <a:ext cx="1851600" cy="425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615E"/>
              </a:buClr>
              <a:buSzPts val="1000"/>
              <a:buFont typeface="Calibri"/>
              <a:buNone/>
            </a:pPr>
            <a:r>
              <a:rPr i="0" lang="it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pca-distances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4917008" y="1693740"/>
            <a:ext cx="1851600" cy="425100"/>
          </a:xfrm>
          <a:prstGeom prst="roundRect">
            <a:avLst>
              <a:gd fmla="val 12903" name="adj"/>
            </a:avLst>
          </a:prstGeom>
          <a:solidFill>
            <a:srgbClr val="CFE2F3"/>
          </a:solidFill>
          <a:ln cap="flat" cmpd="sng" w="12700">
            <a:solidFill>
              <a:srgbClr val="E3F1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4917008" y="1693740"/>
            <a:ext cx="1851600" cy="425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615E"/>
              </a:buClr>
              <a:buSzPts val="1000"/>
              <a:buFont typeface="Calibri"/>
              <a:buNone/>
            </a:pPr>
            <a:r>
              <a:rPr i="0" lang="it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tica-distances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356438" y="2214948"/>
            <a:ext cx="2400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3232B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62 backbone dihedrals</a:t>
            </a:r>
            <a:endParaRPr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2928188" y="2214948"/>
            <a:ext cx="1851600" cy="425100"/>
          </a:xfrm>
          <a:prstGeom prst="roundRect">
            <a:avLst>
              <a:gd fmla="val 12903" name="adj"/>
            </a:avLst>
          </a:prstGeom>
          <a:solidFill>
            <a:srgbClr val="F4F1F7"/>
          </a:solidFill>
          <a:ln cap="flat" cmpd="sng" w="12700">
            <a:solidFill>
              <a:srgbClr val="F4F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2928188" y="2214948"/>
            <a:ext cx="1851600" cy="425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615E"/>
              </a:buClr>
              <a:buSzPts val="1000"/>
              <a:buFont typeface="Calibri"/>
              <a:buNone/>
            </a:pPr>
            <a:r>
              <a:rPr i="0" lang="it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pca-dihedrals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4917008" y="2214948"/>
            <a:ext cx="1851600" cy="425100"/>
          </a:xfrm>
          <a:prstGeom prst="roundRect">
            <a:avLst>
              <a:gd fmla="val 12903" name="adj"/>
            </a:avLst>
          </a:prstGeom>
          <a:solidFill>
            <a:srgbClr val="CFE2F3"/>
          </a:solidFill>
          <a:ln cap="flat" cmpd="sng" w="12700">
            <a:solidFill>
              <a:srgbClr val="E3F1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4917008" y="2214948"/>
            <a:ext cx="1851600" cy="425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615E"/>
              </a:buClr>
              <a:buSzPts val="1000"/>
              <a:buFont typeface="Calibri"/>
              <a:buNone/>
            </a:pPr>
            <a:r>
              <a:rPr i="0" lang="it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tica-dihedrals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2928188" y="2667576"/>
            <a:ext cx="185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i="1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maximal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i="1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variance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4917008" y="2667576"/>
            <a:ext cx="185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i="1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maximal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i="1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autocorrelation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/f2_fes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7070" y="3065340"/>
            <a:ext cx="6031173" cy="157734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/>
          <p:nvPr/>
        </p:nvSpPr>
        <p:spPr>
          <a:xfrm>
            <a:off x="1359711" y="4642675"/>
            <a:ext cx="6476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b="0" i="1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Free energy on the first two reduced coordinates: one dominant minimum for the distance models, two for the dihedral models, plus a well-separated basin in both tICA projections.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7" title="Screenshot 2026-07-18 at 14.47.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6825" y="254763"/>
            <a:ext cx="680698" cy="519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niversità_Padova.svg – 800 anni unipd" id="133" name="Google Shape;13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79802" y="174200"/>
            <a:ext cx="680698" cy="6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120600" y="314450"/>
            <a:ext cx="526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Four sets of reduced coordinates for the transition matrix estimation</a:t>
            </a:r>
            <a:endParaRPr b="1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217198" y="174200"/>
            <a:ext cx="11007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18C"/>
              </a:buClr>
              <a:buSzPts val="800"/>
              <a:buFont typeface="Calibri"/>
              <a:buNone/>
            </a:pPr>
            <a:r>
              <a:rPr lang="it" sz="1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endParaRPr i="0" sz="1000" u="none" cap="none" strike="noStrike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356450" y="925425"/>
            <a:ext cx="828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32B"/>
              </a:buClr>
              <a:buSzPts val="1100"/>
              <a:buFont typeface="Calibri"/>
              <a:buNone/>
            </a:pPr>
            <a:r>
              <a:rPr i="0" lang="it" sz="11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Feature choice, dimensionality reduction and clustering are all judgement calls — and different reasonable choices can resolve different metastable states. So instead of committing to one pipeline, I built four.</a:t>
            </a:r>
            <a:endParaRPr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/>
          <p:nvPr/>
        </p:nvSpPr>
        <p:spPr>
          <a:xfrm>
            <a:off x="779557" y="1573363"/>
            <a:ext cx="356700" cy="356700"/>
          </a:xfrm>
          <a:prstGeom prst="ellipse">
            <a:avLst/>
          </a:prstGeom>
          <a:solidFill>
            <a:srgbClr val="1F918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779557" y="1573363"/>
            <a:ext cx="356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217201" y="2012275"/>
            <a:ext cx="14814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32B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Cluster</a:t>
            </a:r>
            <a:endParaRPr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217201" y="2286595"/>
            <a:ext cx="1481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i="0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k-means++ on the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i="0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reduced coordinates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1602517" y="1587079"/>
            <a:ext cx="37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BCC8"/>
              </a:buClr>
              <a:buSzPts val="1500"/>
              <a:buFont typeface="Calibri"/>
              <a:buNone/>
            </a:pPr>
            <a:r>
              <a:rPr i="0" lang="it" sz="1500" u="none" cap="none" strike="noStrike">
                <a:solidFill>
                  <a:srgbClr val="C0BCC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2446051" y="1573363"/>
            <a:ext cx="356700" cy="356700"/>
          </a:xfrm>
          <a:prstGeom prst="ellipse">
            <a:avLst/>
          </a:prstGeom>
          <a:solidFill>
            <a:srgbClr val="1F918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2446051" y="1573363"/>
            <a:ext cx="356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1883695" y="2012275"/>
            <a:ext cx="14814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32B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Transition matrix</a:t>
            </a:r>
            <a:endParaRPr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1883695" y="2286595"/>
            <a:ext cx="1481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i="0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max. likelihood,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i="0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detailed balance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3269011" y="1587079"/>
            <a:ext cx="37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BCC8"/>
              </a:buClr>
              <a:buSzPts val="1500"/>
              <a:buFont typeface="Calibri"/>
              <a:buNone/>
            </a:pPr>
            <a:r>
              <a:rPr b="0" i="0" lang="it" sz="1500" u="none" cap="none" strike="noStrike">
                <a:solidFill>
                  <a:srgbClr val="C0BCC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4112545" y="1573363"/>
            <a:ext cx="356700" cy="356700"/>
          </a:xfrm>
          <a:prstGeom prst="ellipse">
            <a:avLst/>
          </a:prstGeom>
          <a:solidFill>
            <a:srgbClr val="1F918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4112545" y="1573363"/>
            <a:ext cx="356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3550189" y="2012275"/>
            <a:ext cx="14814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32B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3550189" y="2286595"/>
            <a:ext cx="1481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implied timescales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+ CK test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779555" y="3027265"/>
            <a:ext cx="1982100" cy="891600"/>
          </a:xfrm>
          <a:prstGeom prst="roundRect">
            <a:avLst>
              <a:gd fmla="val 6154" name="adj"/>
            </a:avLst>
          </a:prstGeom>
          <a:solidFill>
            <a:srgbClr val="F4F1F7"/>
          </a:solidFill>
          <a:ln cap="flat" cmpd="sng" w="12700">
            <a:solidFill>
              <a:srgbClr val="F4F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902999" y="3095845"/>
            <a:ext cx="17145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104F"/>
              </a:buClr>
              <a:buSzPts val="1500"/>
              <a:buFont typeface="Cambria"/>
              <a:buNone/>
            </a:pPr>
            <a:r>
              <a:rPr b="1" i="0" lang="it" sz="1500" u="none" cap="none" strike="noStrike">
                <a:solidFill>
                  <a:srgbClr val="36104F"/>
                </a:solidFill>
                <a:latin typeface="Calibri"/>
                <a:ea typeface="Calibri"/>
                <a:cs typeface="Calibri"/>
                <a:sym typeface="Calibri"/>
              </a:rPr>
              <a:t>k = 50</a:t>
            </a:r>
            <a:endParaRPr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902999" y="3411313"/>
            <a:ext cx="17487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i="0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microstates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i="0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(scanned 30 / 50 / 100)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2898677" y="3027265"/>
            <a:ext cx="1982100" cy="891600"/>
          </a:xfrm>
          <a:prstGeom prst="roundRect">
            <a:avLst>
              <a:gd fmla="val 6154" name="adj"/>
            </a:avLst>
          </a:prstGeom>
          <a:solidFill>
            <a:srgbClr val="F4F1F7"/>
          </a:solidFill>
          <a:ln cap="flat" cmpd="sng" w="12700">
            <a:solidFill>
              <a:srgbClr val="F4F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3022121" y="3095845"/>
            <a:ext cx="17145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104F"/>
              </a:buClr>
              <a:buSzPts val="1500"/>
              <a:buFont typeface="Cambria"/>
              <a:buNone/>
            </a:pPr>
            <a:r>
              <a:rPr b="1" i="0" lang="it" sz="1500" u="none" cap="none" strike="noStrike">
                <a:solidFill>
                  <a:srgbClr val="36104F"/>
                </a:solidFill>
                <a:latin typeface="Calibri"/>
                <a:ea typeface="Calibri"/>
                <a:cs typeface="Calibri"/>
                <a:sym typeface="Calibri"/>
              </a:rPr>
              <a:t>τ = 50 ns</a:t>
            </a:r>
            <a:endParaRPr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3022121" y="3411313"/>
            <a:ext cx="17487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i="0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Markov lag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i="0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(scanned 10–100 ns)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425196" y="4116176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900"/>
              <a:buFont typeface="Calibri"/>
              <a:buNone/>
            </a:pPr>
            <a:r>
              <a:rPr i="1" lang="it" sz="9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More clusters give resolution but fewer transitions per state and a network that can disconnect; the lag must be long enough for Markovianity yet well below the 0.7 µs folding time. All four pipelines share the same k and τ, so whatever differs between the models comes from the features and the reduction — not from the discretisation.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8572500" y="478688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8" title="Screenshot 2026-07-18 at 14.47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6825" y="254763"/>
            <a:ext cx="680698" cy="519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niversità_Padova.svg – 800 anni unipd" id="164" name="Google Shape;16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9802" y="174200"/>
            <a:ext cx="680698" cy="6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120600" y="322245"/>
            <a:ext cx="359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Common parameters across pipelines</a:t>
            </a:r>
            <a:endParaRPr b="1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217198" y="174200"/>
            <a:ext cx="11007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18C"/>
              </a:buClr>
              <a:buSzPts val="800"/>
              <a:buFont typeface="Calibri"/>
              <a:buNone/>
            </a:pPr>
            <a:r>
              <a:rPr lang="it" sz="1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endParaRPr i="0" sz="1000" u="none" cap="none" strike="noStrike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8" title="Screenshot 2026-07-18 at 16.26.3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6700" y="1485300"/>
            <a:ext cx="3241958" cy="254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title="Screenshot 2026-07-18 at 14.47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6825" y="254763"/>
            <a:ext cx="680698" cy="519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niversità_Padova.svg – 800 anni unipd" id="173" name="Google Shape;17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9802" y="174200"/>
            <a:ext cx="680698" cy="6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120600" y="314450"/>
            <a:ext cx="559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Resulting MSMs were coarse-grained with PCCA++</a:t>
            </a:r>
            <a:endParaRPr b="1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217198" y="174200"/>
            <a:ext cx="11007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18C"/>
              </a:buClr>
              <a:buSzPts val="800"/>
              <a:buFont typeface="Calibri"/>
              <a:buNone/>
            </a:pPr>
            <a:r>
              <a:rPr lang="it" sz="1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endParaRPr i="0" sz="1000" u="none" cap="none" strike="noStrike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9" title="Screenshot 2026-07-18 at 15.58.59.png"/>
          <p:cNvPicPr preferRelativeResize="0"/>
          <p:nvPr/>
        </p:nvPicPr>
        <p:blipFill rotWithShape="1">
          <a:blip r:embed="rId5">
            <a:alphaModFix/>
          </a:blip>
          <a:srcRect b="0" l="7106" r="0" t="0"/>
          <a:stretch/>
        </p:blipFill>
        <p:spPr>
          <a:xfrm>
            <a:off x="6649275" y="1148000"/>
            <a:ext cx="1980325" cy="350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4147800" y="3620000"/>
            <a:ext cx="23376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G.R. Bowman, V.S. Pande and F. Noe, </a:t>
            </a:r>
            <a:endParaRPr sz="9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900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An Introduction to Markov State Models and Their Application to Long Timescale Molecular Simulation </a:t>
            </a:r>
            <a:r>
              <a:rPr lang="it" sz="900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Springer (2013)</a:t>
            </a:r>
            <a:endParaRPr sz="900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276450" y="8549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PCCA++ identifies slow processes using the eigenvectors sign patterns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9" title="Screenshot 2026-07-18 at 16.31.58.png"/>
          <p:cNvPicPr preferRelativeResize="0"/>
          <p:nvPr/>
        </p:nvPicPr>
        <p:blipFill rotWithShape="1">
          <a:blip r:embed="rId6">
            <a:alphaModFix/>
          </a:blip>
          <a:srcRect b="0" l="7834" r="0" t="0"/>
          <a:stretch/>
        </p:blipFill>
        <p:spPr>
          <a:xfrm>
            <a:off x="4033825" y="1916825"/>
            <a:ext cx="2337651" cy="165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fig/sf5_eigen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3925" y="1316849"/>
            <a:ext cx="5367824" cy="30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title="Screenshot 2026-07-18 at 14.47.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6825" y="254763"/>
            <a:ext cx="680698" cy="519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niversità_Padova.svg – 800 anni unipd" id="186" name="Google Shape;18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79802" y="174200"/>
            <a:ext cx="680698" cy="6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120600" y="314450"/>
            <a:ext cx="526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Slowest process separates folded and unfolded conformations</a:t>
            </a:r>
            <a:endParaRPr b="1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217198" y="174200"/>
            <a:ext cx="11007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18C"/>
              </a:buClr>
              <a:buSzPts val="800"/>
              <a:buFont typeface="Calibri"/>
              <a:buNone/>
            </a:pPr>
            <a:r>
              <a:rPr lang="it" sz="1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i="0" sz="1000" u="none" cap="none" strike="noStrike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0" title="Screenshot 2026-07-18 at 16.26.3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7547" y="801050"/>
            <a:ext cx="2987723" cy="2343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fig/f4_bottom.png"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5205" y="1254674"/>
            <a:ext cx="2798302" cy="344271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/>
          <p:nvPr/>
        </p:nvSpPr>
        <p:spPr>
          <a:xfrm>
            <a:off x="8572500" y="478688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21" title="Screenshot 2026-07-18 at 14.47.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6825" y="254763"/>
            <a:ext cx="680698" cy="519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niversità_Padova.svg – 800 anni unipd" id="197" name="Google Shape;19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79802" y="174200"/>
            <a:ext cx="680698" cy="6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120600" y="314450"/>
            <a:ext cx="703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Folded-side basin is distinguished by hydrophobic core and close packing,</a:t>
            </a:r>
            <a:endParaRPr b="1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not by helix formation alone</a:t>
            </a:r>
            <a:endParaRPr b="1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217198" y="174200"/>
            <a:ext cx="11007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18C"/>
              </a:buClr>
              <a:buSzPts val="800"/>
              <a:buFont typeface="Calibri"/>
              <a:buNone/>
            </a:pPr>
            <a:r>
              <a:rPr lang="it" sz="1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i="0" sz="1000" u="none" cap="none" strike="noStrike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21" title="Screenshot 2026-07-18 at 16.23.35.png"/>
          <p:cNvPicPr preferRelativeResize="0"/>
          <p:nvPr/>
        </p:nvPicPr>
        <p:blipFill rotWithShape="1">
          <a:blip r:embed="rId6">
            <a:alphaModFix/>
          </a:blip>
          <a:srcRect b="0" l="0" r="53667" t="3016"/>
          <a:stretch/>
        </p:blipFill>
        <p:spPr>
          <a:xfrm>
            <a:off x="3126686" y="2854875"/>
            <a:ext cx="1669250" cy="18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/>
          <p:nvPr/>
        </p:nvSpPr>
        <p:spPr>
          <a:xfrm>
            <a:off x="344928" y="2635224"/>
            <a:ext cx="2137800" cy="1129500"/>
          </a:xfrm>
          <a:prstGeom prst="roundRect">
            <a:avLst>
              <a:gd fmla="val 5161" name="adj"/>
            </a:avLst>
          </a:prstGeom>
          <a:solidFill>
            <a:schemeClr val="lt2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02669" y="2804580"/>
            <a:ext cx="267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22B"/>
              </a:buClr>
              <a:buSzPts val="2000"/>
              <a:buFont typeface="Cambria"/>
              <a:buNone/>
            </a:pPr>
            <a:r>
              <a:rPr b="1" i="0" lang="it" sz="2000" u="none" cap="none" strike="noStrike">
                <a:solidFill>
                  <a:srgbClr val="D9822B"/>
                </a:solidFill>
                <a:latin typeface="Calibri"/>
                <a:ea typeface="Calibri"/>
                <a:cs typeface="Calibri"/>
                <a:sym typeface="Calibri"/>
              </a:rPr>
              <a:t>31–32%</a:t>
            </a:r>
            <a:r>
              <a:rPr i="0" lang="it" sz="11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   unfolded</a:t>
            </a:r>
            <a:endParaRPr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02669" y="3147480"/>
            <a:ext cx="267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7FB8"/>
              </a:buClr>
              <a:buSzPts val="2000"/>
              <a:buFont typeface="Cambria"/>
              <a:buNone/>
            </a:pPr>
            <a:r>
              <a:rPr b="1" i="0" lang="it" sz="2000" u="none" cap="none" strike="noStrike">
                <a:solidFill>
                  <a:srgbClr val="2C7FB8"/>
                </a:solidFill>
                <a:latin typeface="Calibri"/>
                <a:ea typeface="Calibri"/>
                <a:cs typeface="Calibri"/>
                <a:sym typeface="Calibri"/>
              </a:rPr>
              <a:t>67–68%</a:t>
            </a:r>
            <a:r>
              <a:rPr i="0" lang="it" sz="11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   folded</a:t>
            </a:r>
            <a:endParaRPr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02669" y="3504096"/>
            <a:ext cx="2674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i="1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consistent with Piana et al. for this trajectory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450350" y="4028150"/>
            <a:ext cx="2621400" cy="1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615E"/>
              </a:buClr>
              <a:buSzPts val="800"/>
              <a:buFont typeface="Calibri"/>
              <a:buNone/>
            </a:pPr>
            <a:r>
              <a:rPr b="1" i="0" lang="it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Frames assigned to opposite states</a:t>
            </a:r>
            <a:endParaRPr i="0" sz="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450350" y="4172362"/>
            <a:ext cx="7011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18C"/>
              </a:buClr>
              <a:buSzPts val="1156"/>
              <a:buFont typeface="Cambria"/>
              <a:buNone/>
            </a:pPr>
            <a:r>
              <a:rPr b="1" lang="it" sz="1156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1.6 %</a:t>
            </a:r>
            <a:endParaRPr sz="1156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1163580" y="4172362"/>
            <a:ext cx="19203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i="0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tica-distances vs pca-distances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450350" y="4420727"/>
            <a:ext cx="7011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18C"/>
              </a:buClr>
              <a:buSzPts val="1156"/>
              <a:buFont typeface="Cambria"/>
              <a:buNone/>
            </a:pPr>
            <a:r>
              <a:rPr b="1" i="0" lang="it" sz="1156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2.3 %</a:t>
            </a:r>
            <a:endParaRPr i="0" sz="1156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1163580" y="4420727"/>
            <a:ext cx="19203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i="0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pca-distances vs pca-dihedrals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450350" y="4669092"/>
            <a:ext cx="7011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22B"/>
              </a:buClr>
              <a:buSzPts val="1156"/>
              <a:buFont typeface="Cambria"/>
              <a:buNone/>
            </a:pPr>
            <a:r>
              <a:rPr b="1" i="0" lang="it" sz="1156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≈ 8 %</a:t>
            </a:r>
            <a:endParaRPr i="0" sz="1156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1163580" y="4669092"/>
            <a:ext cx="19203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i="0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tica-dihedrals vs each of the others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344925" y="948888"/>
            <a:ext cx="49878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14615E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Consensus folded set  </a:t>
            </a:r>
            <a:r>
              <a:rPr b="1" i="0" lang="it" sz="1000" u="none" cap="none" strike="noStrike">
                <a:solidFill>
                  <a:srgbClr val="14615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it" sz="10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frames assigned to S</a:t>
            </a:r>
            <a:r>
              <a:rPr b="0" baseline="-25000" i="0" lang="it" sz="10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it" sz="10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 with χ &gt; 0.8 by </a:t>
            </a:r>
            <a:r>
              <a:rPr b="1" i="0" lang="it" sz="10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all four</a:t>
            </a:r>
            <a:r>
              <a:rPr b="0" i="0" lang="it" sz="10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 models — 61% of the trajectory. Median RMSD 0.65 nm, versus ~1.1 nm for everything else.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344921" y="1554125"/>
            <a:ext cx="5177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23232B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Every native contact was then ranked by how sharply it separates the consensus set from the rest — a median difference normalised by the spread of the two distributions.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21" title="Screenshot 2026-07-18 at 17.35.2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99998" y="2036679"/>
            <a:ext cx="3122628" cy="5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/>
          <p:nvPr/>
        </p:nvSpPr>
        <p:spPr>
          <a:xfrm>
            <a:off x="425196" y="891540"/>
            <a:ext cx="8298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1000"/>
              <a:buFont typeface="Calibri"/>
              <a:buNone/>
            </a:pPr>
            <a:r>
              <a:rPr i="0" lang="it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tICA spectra keep several processes above the resolution limit, so I pushed both tICA models to</a:t>
            </a:r>
            <a:r>
              <a:rPr b="1" i="0" lang="it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three</a:t>
            </a:r>
            <a:r>
              <a:rPr i="0" lang="it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macrostates.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411480" y="1234440"/>
            <a:ext cx="4149000" cy="3463200"/>
          </a:xfrm>
          <a:prstGeom prst="roundRect">
            <a:avLst>
              <a:gd fmla="val 1584" name="adj"/>
            </a:avLst>
          </a:prstGeom>
          <a:solidFill>
            <a:schemeClr val="lt2"/>
          </a:solidFill>
          <a:ln cap="flat" cmpd="sng" w="12700">
            <a:solidFill>
              <a:srgbClr val="F4F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582930" y="1337310"/>
            <a:ext cx="246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615E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14615E"/>
                </a:solidFill>
                <a:latin typeface="Calibri"/>
                <a:ea typeface="Calibri"/>
                <a:cs typeface="Calibri"/>
                <a:sym typeface="Calibri"/>
              </a:rPr>
              <a:t>tica-distances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582930" y="1563624"/>
            <a:ext cx="253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104F"/>
              </a:buClr>
              <a:buSzPts val="1400"/>
              <a:buFont typeface="Cambria"/>
              <a:buNone/>
            </a:pPr>
            <a:r>
              <a:rPr b="1" i="0" lang="it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compact non-native state</a:t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582930" y="1954530"/>
            <a:ext cx="315600" cy="315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582930" y="1957893"/>
            <a:ext cx="315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S₀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973836" y="1988820"/>
            <a:ext cx="2126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104F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36104F"/>
                </a:solidFill>
                <a:latin typeface="Calibri"/>
                <a:ea typeface="Calibri"/>
                <a:cs typeface="Calibri"/>
                <a:sym typeface="Calibri"/>
              </a:rPr>
              <a:t>~1%</a:t>
            </a:r>
            <a:r>
              <a:rPr i="0" lang="it" sz="9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  population   ·   </a:t>
            </a:r>
            <a:r>
              <a:rPr b="1" i="0" lang="it" sz="900" u="none" cap="none" strike="noStrike">
                <a:solidFill>
                  <a:srgbClr val="36104F"/>
                </a:solidFill>
                <a:latin typeface="Calibri"/>
                <a:ea typeface="Calibri"/>
                <a:cs typeface="Calibri"/>
                <a:sym typeface="Calibri"/>
              </a:rPr>
              <a:t>~1 µs</a:t>
            </a:r>
            <a:r>
              <a:rPr i="0" lang="it" sz="9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  single visit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582930" y="2345436"/>
            <a:ext cx="24345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3232B"/>
              </a:buClr>
              <a:buSzPts val="1000"/>
              <a:buFont typeface="Calibri"/>
              <a:buNone/>
            </a:pPr>
            <a:r>
              <a:rPr i="0" lang="it" sz="10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Helix 3 stays folded, while residues 6–14 form a stable β-hairpin-like segment </a:t>
            </a:r>
            <a:r>
              <a:rPr b="1" i="0" lang="it" sz="10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in place of helix 1</a:t>
            </a:r>
            <a:r>
              <a:rPr i="0" lang="it" sz="10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582930" y="3099816"/>
            <a:ext cx="2434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900"/>
              <a:buFont typeface="Calibri"/>
              <a:buNone/>
            </a:pPr>
            <a:r>
              <a:rPr i="0" lang="it" sz="9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Distinguished by the backbone dihedrals of Phe6, Lys7 and Gly15 — β region here, α</a:t>
            </a:r>
            <a:r>
              <a:rPr baseline="-25000" i="0" lang="it" sz="9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i="0" lang="it" sz="9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 elsewhere.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82930" y="3669030"/>
            <a:ext cx="24345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8A5B12"/>
              </a:buClr>
              <a:buSzPts val="900"/>
              <a:buFont typeface="Calibri"/>
              <a:buNone/>
            </a:pPr>
            <a:r>
              <a:rPr b="0" i="1" lang="it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non-native topology ⇒ a plausible off-pathway intermediate, i.e. a putative kinetic trap. Rare but long-lived: one visit in 305 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/f5_struct.png"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0390" y="1834789"/>
            <a:ext cx="1337310" cy="246833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/>
          <p:nvPr/>
        </p:nvSpPr>
        <p:spPr>
          <a:xfrm>
            <a:off x="8572500" y="478688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22" title="trap?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0600" y="1308448"/>
            <a:ext cx="3617075" cy="230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title="Screenshot 2026-07-18 at 14.47.5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26825" y="254763"/>
            <a:ext cx="680698" cy="519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niversità_Padova.svg – 800 anni unipd" id="233" name="Google Shape;23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79802" y="174200"/>
            <a:ext cx="680698" cy="6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120600" y="314450"/>
            <a:ext cx="703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A finer partition: each tICA model finds a different new state</a:t>
            </a:r>
            <a:endParaRPr b="1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217198" y="174200"/>
            <a:ext cx="11007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18C"/>
              </a:buClr>
              <a:buSzPts val="800"/>
              <a:buFont typeface="Calibri"/>
              <a:buNone/>
            </a:pPr>
            <a:r>
              <a:rPr lang="it" sz="1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i="0" sz="1000" u="none" cap="none" strike="noStrike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/f2_fes.png" id="236" name="Google Shape;236;p22"/>
          <p:cNvPicPr preferRelativeResize="0"/>
          <p:nvPr/>
        </p:nvPicPr>
        <p:blipFill rotWithShape="1">
          <a:blip r:embed="rId8">
            <a:alphaModFix/>
          </a:blip>
          <a:srcRect b="0" l="0" r="55615" t="0"/>
          <a:stretch/>
        </p:blipFill>
        <p:spPr>
          <a:xfrm>
            <a:off x="5176597" y="3343263"/>
            <a:ext cx="2677002" cy="157732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/>
          <p:nvPr/>
        </p:nvSpPr>
        <p:spPr>
          <a:xfrm>
            <a:off x="5415725" y="3965075"/>
            <a:ext cx="265500" cy="2400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/>
          <p:nvPr/>
        </p:nvSpPr>
        <p:spPr>
          <a:xfrm>
            <a:off x="425196" y="891540"/>
            <a:ext cx="8298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1000"/>
              <a:buFont typeface="Calibri"/>
              <a:buNone/>
            </a:pPr>
            <a:r>
              <a:rPr i="0" lang="it" sz="10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The tICA spectra keep several processes above the resolution limit, so I pushed both tICA models to three macrostates.</a:t>
            </a:r>
            <a:endParaRPr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4766310" y="1234440"/>
            <a:ext cx="3977700" cy="3463200"/>
          </a:xfrm>
          <a:prstGeom prst="roundRect">
            <a:avLst>
              <a:gd fmla="val 1584" name="adj"/>
            </a:avLst>
          </a:prstGeom>
          <a:solidFill>
            <a:schemeClr val="lt2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highlight>
                <a:schemeClr val="lt2"/>
              </a:highlight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4937760" y="1337310"/>
            <a:ext cx="274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615E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tica-dihedrals</a:t>
            </a:r>
            <a:endParaRPr b="0" i="0" sz="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4937760" y="1563624"/>
            <a:ext cx="363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104F"/>
              </a:buClr>
              <a:buSzPts val="1400"/>
              <a:buFont typeface="Cambria"/>
              <a:buNone/>
            </a:pPr>
            <a:r>
              <a:rPr b="1" i="0" lang="it" sz="1400" u="none" cap="none" strike="noStrike">
                <a:solidFill>
                  <a:srgbClr val="36104F"/>
                </a:solidFill>
                <a:latin typeface="Cambria"/>
                <a:ea typeface="Cambria"/>
                <a:cs typeface="Cambria"/>
                <a:sym typeface="Cambria"/>
              </a:rPr>
              <a:t>A loop rearrangement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4937760" y="1954530"/>
            <a:ext cx="315600" cy="315600"/>
          </a:xfrm>
          <a:prstGeom prst="ellipse">
            <a:avLst/>
          </a:prstGeom>
          <a:solidFill>
            <a:srgbClr val="1F918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4937760" y="1954530"/>
            <a:ext cx="315600" cy="315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S₀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328666" y="1988820"/>
            <a:ext cx="3223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615E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3–6%</a:t>
            </a:r>
            <a:r>
              <a:rPr b="0" i="0" lang="it" sz="9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  population   ·   </a:t>
            </a:r>
            <a:r>
              <a:rPr b="1" i="0" lang="it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0.32 µs</a:t>
            </a:r>
            <a:r>
              <a:rPr b="0" i="0" lang="it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it" sz="9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 median residence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4937760" y="2366010"/>
            <a:ext cx="36348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3232B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The structural signature is much weaker. The only clear difference is the </a:t>
            </a:r>
            <a:r>
              <a:rPr b="1" i="0" lang="it" sz="10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Leu20–Pro21 loop</a:t>
            </a:r>
            <a:r>
              <a:rPr b="0" i="0" lang="it" sz="10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 joining helices 2 and 3: its φ/ψ angles sit in the β region here, and in α</a:t>
            </a:r>
            <a:r>
              <a:rPr b="0" baseline="-25000" i="0" lang="it" sz="10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it" sz="10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 in the other two macrostates.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4937760" y="3360420"/>
            <a:ext cx="3634800" cy="61710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5088636" y="3429000"/>
            <a:ext cx="3360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3232B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Entered only from the unfolded state, and always returns to it — no S₁ → S₀ → S₂ passage is observed.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4937760" y="4080510"/>
            <a:ext cx="3634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4615E"/>
              </a:buClr>
              <a:buSzPts val="900"/>
              <a:buFont typeface="Calibri"/>
              <a:buNone/>
            </a:pPr>
            <a:r>
              <a:rPr b="0" i="1" lang="it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So this is a local rearrangement inside the unfolded ensemble — not a folding intermediate.</a:t>
            </a:r>
            <a:endParaRPr b="0" i="0" sz="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8572500" y="478688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3" title="Screenshot 2026-07-18 at 14.47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6825" y="254763"/>
            <a:ext cx="680698" cy="519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niversità_Padova.svg – 800 anni unipd" id="255" name="Google Shape;25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9802" y="174200"/>
            <a:ext cx="680698" cy="6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120600" y="314450"/>
            <a:ext cx="703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A finer partition: each tICA model finds a different new state</a:t>
            </a:r>
            <a:endParaRPr b="1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217198" y="174200"/>
            <a:ext cx="11007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18C"/>
              </a:buClr>
              <a:buSzPts val="800"/>
              <a:buFont typeface="Calibri"/>
              <a:buNone/>
            </a:pPr>
            <a:r>
              <a:rPr lang="it" sz="1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i="0" sz="1000" u="none" cap="none" strike="noStrike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"/>
          <p:cNvSpPr/>
          <p:nvPr/>
        </p:nvSpPr>
        <p:spPr>
          <a:xfrm>
            <a:off x="8572500" y="478688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24" title="Screenshot 2026-07-18 at 14.47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6825" y="254763"/>
            <a:ext cx="680698" cy="519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niversità_Padova.svg – 800 anni unipd" id="264" name="Google Shape;26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9802" y="174200"/>
            <a:ext cx="680698" cy="6806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fig/f2_fes.png" id="265" name="Google Shape;26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9795" y="1276965"/>
            <a:ext cx="6031173" cy="1577341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120600" y="314450"/>
            <a:ext cx="703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Inside the folded-side basin: a locked and unlocked N terminus</a:t>
            </a:r>
            <a:endParaRPr b="1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217198" y="174200"/>
            <a:ext cx="11007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18C"/>
              </a:buClr>
              <a:buSzPts val="800"/>
              <a:buFont typeface="Calibri"/>
              <a:buNone/>
            </a:pPr>
            <a:r>
              <a:rPr lang="it" sz="1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i="0" sz="1000" u="none" cap="none" strike="noStrike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24" title="Screenshot 2026-07-18 at 16.23.35.png"/>
          <p:cNvPicPr preferRelativeResize="0"/>
          <p:nvPr/>
        </p:nvPicPr>
        <p:blipFill rotWithShape="1">
          <a:blip r:embed="rId6">
            <a:alphaModFix/>
          </a:blip>
          <a:srcRect b="0" l="0" r="53667" t="3016"/>
          <a:stretch/>
        </p:blipFill>
        <p:spPr>
          <a:xfrm>
            <a:off x="217200" y="1088150"/>
            <a:ext cx="1896926" cy="214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5" title="Screenshot 2026-07-18 at 11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199" y="3195329"/>
            <a:ext cx="1913376" cy="154064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/>
          <p:nvPr/>
        </p:nvSpPr>
        <p:spPr>
          <a:xfrm>
            <a:off x="425200" y="905250"/>
            <a:ext cx="39411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23232B"/>
              </a:buClr>
              <a:buSzPts val="1000"/>
              <a:buFont typeface="Calibri"/>
              <a:buNone/>
            </a:pPr>
            <a:r>
              <a:rPr i="0" lang="it" sz="10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RMSD, the 10–29 contact and the membership distributions of both dihedral models are all bimodal inside the folded basin — yet PCCA++ with three states does not split it. So I subdivided it by hand, at the peaks of the membership probability.</a:t>
            </a:r>
            <a:endParaRPr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2766730" y="1860322"/>
            <a:ext cx="342900" cy="342900"/>
          </a:xfrm>
          <a:prstGeom prst="ellipse">
            <a:avLst/>
          </a:prstGeom>
          <a:solidFill>
            <a:srgbClr val="2C7FB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2766730" y="1860322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F₁</a:t>
            </a:r>
            <a:endParaRPr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2584878" y="1911773"/>
            <a:ext cx="1234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C7FB8"/>
              </a:buClr>
              <a:buSzPts val="1200"/>
              <a:buFont typeface="Cambria"/>
              <a:buNone/>
            </a:pPr>
            <a:r>
              <a:rPr b="1" i="0" lang="it" sz="1200" u="none" cap="none" strike="noStrike">
                <a:solidFill>
                  <a:srgbClr val="2C7FB8"/>
                </a:solidFill>
                <a:latin typeface="Cambria"/>
                <a:ea typeface="Cambria"/>
                <a:cs typeface="Cambria"/>
                <a:sym typeface="Cambria"/>
              </a:rPr>
              <a:t>34–35%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2740600" y="2306975"/>
            <a:ext cx="1962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900"/>
              <a:buFont typeface="Calibri"/>
              <a:buNone/>
            </a:pPr>
            <a:r>
              <a:rPr i="0" lang="it" sz="9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Asp3 in αR  ·  </a:t>
            </a:r>
            <a:r>
              <a:rPr lang="it" sz="900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those Leu1 contacts present/absent  (fluctuating -&gt;mobile terminus)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1914868" y="4021945"/>
            <a:ext cx="342900" cy="342900"/>
          </a:xfrm>
          <a:prstGeom prst="ellipse">
            <a:avLst/>
          </a:prstGeom>
          <a:solidFill>
            <a:srgbClr val="D9822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1914868" y="4021945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F₂</a:t>
            </a:r>
            <a:endParaRPr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5555275" y="1159108"/>
            <a:ext cx="1371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32B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“unlocked”</a:t>
            </a:r>
            <a:endParaRPr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2514809" y="4021951"/>
            <a:ext cx="791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822B"/>
              </a:buClr>
              <a:buSzPts val="1200"/>
              <a:buFont typeface="Cambria"/>
              <a:buNone/>
            </a:pPr>
            <a:r>
              <a:rPr b="1" i="0" lang="it" sz="1200" u="none" cap="none" strike="noStrike">
                <a:solidFill>
                  <a:srgbClr val="D9822B"/>
                </a:solidFill>
                <a:latin typeface="Cambria"/>
                <a:ea typeface="Cambria"/>
                <a:cs typeface="Cambria"/>
                <a:sym typeface="Cambria"/>
              </a:rPr>
              <a:t>31–32%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/f6_top.png" id="283" name="Google Shape;28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8055" y="1556840"/>
            <a:ext cx="3703319" cy="2718622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/>
          <p:nvPr/>
        </p:nvSpPr>
        <p:spPr>
          <a:xfrm>
            <a:off x="5426476" y="4433199"/>
            <a:ext cx="30327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b="0" i="1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(φ, ψ) of Asp3 in the two subpopulations, for the PCA (top) and tICA (bottom) dihedral models. The whole distinction rests on one residue.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25" title="Screenshot 2026-07-18 at 14.47.5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6825" y="254763"/>
            <a:ext cx="680698" cy="519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niversità_Padova.svg – 800 anni unipd" id="286" name="Google Shape;28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79802" y="174200"/>
            <a:ext cx="680698" cy="6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120600" y="314450"/>
            <a:ext cx="507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Inside the folded-side basin: a locked and unlocked N terminus</a:t>
            </a:r>
            <a:endParaRPr b="1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217198" y="174200"/>
            <a:ext cx="11007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18C"/>
              </a:buClr>
              <a:buSzPts val="800"/>
              <a:buFont typeface="Calibri"/>
              <a:buNone/>
            </a:pPr>
            <a:r>
              <a:rPr lang="it" sz="1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i="0" sz="1000" u="none" cap="none" strike="noStrike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1914875" y="4458025"/>
            <a:ext cx="204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900"/>
              <a:buFont typeface="Calibri"/>
              <a:buNone/>
            </a:pPr>
            <a:r>
              <a:rPr i="0" lang="it" sz="9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Asp3 in αL  </a:t>
            </a:r>
            <a:endParaRPr sz="900">
              <a:solidFill>
                <a:srgbClr val="6E6E7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900"/>
              <a:buFont typeface="Calibri"/>
              <a:buNone/>
            </a:pPr>
            <a:r>
              <a:rPr lang="it" sz="900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 native contacts of Leu1 absent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900"/>
              <a:buFont typeface="Calibri"/>
              <a:buNone/>
            </a:pPr>
            <a:r>
              <a:t/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25" title="Screenshot 2026-07-18 at 11.48.1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6250" y="1743425"/>
            <a:ext cx="1913374" cy="10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fig/f6_top.png" id="295" name="Google Shape;29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4255" y="1182615"/>
            <a:ext cx="3703319" cy="271862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6"/>
          <p:cNvSpPr/>
          <p:nvPr/>
        </p:nvSpPr>
        <p:spPr>
          <a:xfrm>
            <a:off x="2494251" y="4023249"/>
            <a:ext cx="30327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b="0" i="1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(φ, ψ) of Asp3 in the two subpopulations, for the PCA (top) and tICA (bottom) dihedral models. The whole distinction rests on one residue.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" name="Google Shape;297;p26" title="Screenshot 2026-07-18 at 11.48.1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250" y="1743425"/>
            <a:ext cx="1913374" cy="10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6" title="Screenshot 2026-07-18 at 11.49.2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3449" y="1423229"/>
            <a:ext cx="1913376" cy="154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6" title="Screenshot 2026-07-18 at 14.47.5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26825" y="254763"/>
            <a:ext cx="680698" cy="519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niversità_Padova.svg – 800 anni unipd" id="300" name="Google Shape;300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79802" y="174200"/>
            <a:ext cx="680698" cy="6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6"/>
          <p:cNvSpPr txBox="1"/>
          <p:nvPr/>
        </p:nvSpPr>
        <p:spPr>
          <a:xfrm>
            <a:off x="120600" y="314450"/>
            <a:ext cx="703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Inside the folded-side basin: a locked and unlocked N terminus</a:t>
            </a:r>
            <a:endParaRPr b="1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217198" y="174200"/>
            <a:ext cx="11007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18C"/>
              </a:buClr>
              <a:buSzPts val="800"/>
              <a:buFont typeface="Calibri"/>
              <a:buNone/>
            </a:pPr>
            <a:r>
              <a:rPr lang="it" sz="1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i="0" sz="1000" u="none" cap="none" strike="noStrike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7" title="Screenshot 2026-07-18 at 14.47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6825" y="254763"/>
            <a:ext cx="680698" cy="519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niversità_Padova.svg – 800 anni unipd" id="308" name="Google Shape;30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9802" y="174200"/>
            <a:ext cx="680698" cy="6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7"/>
          <p:cNvSpPr txBox="1"/>
          <p:nvPr/>
        </p:nvSpPr>
        <p:spPr>
          <a:xfrm>
            <a:off x="120600" y="314450"/>
            <a:ext cx="703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Inside the folded-side basin: a locked and unlocked N terminus</a:t>
            </a:r>
            <a:endParaRPr b="1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7"/>
          <p:cNvSpPr/>
          <p:nvPr/>
        </p:nvSpPr>
        <p:spPr>
          <a:xfrm>
            <a:off x="217198" y="174200"/>
            <a:ext cx="11007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18C"/>
              </a:buClr>
              <a:buSzPts val="800"/>
              <a:buFont typeface="Calibri"/>
              <a:buNone/>
            </a:pPr>
            <a:r>
              <a:rPr lang="it" sz="1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i="0" sz="1000" u="none" cap="none" strike="noStrike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7"/>
          <p:cNvSpPr/>
          <p:nvPr/>
        </p:nvSpPr>
        <p:spPr>
          <a:xfrm>
            <a:off x="425205" y="3643795"/>
            <a:ext cx="4423500" cy="720000"/>
          </a:xfrm>
          <a:prstGeom prst="roundRect">
            <a:avLst>
              <a:gd fmla="val 7619" name="adj"/>
            </a:avLst>
          </a:prstGeom>
          <a:solidFill>
            <a:srgbClr val="EAF4F3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596655" y="3726091"/>
            <a:ext cx="4114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3232B"/>
              </a:buClr>
              <a:buSzPts val="1000"/>
              <a:buFont typeface="Calibri"/>
              <a:buNone/>
            </a:pPr>
            <a:r>
              <a:rPr i="0" lang="it" sz="10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Both are metastable in their own right: median residence ≈ 0.4 µs (mean ≈ 0.6 µs), with near single-exponential dwell-time distributions.</a:t>
            </a:r>
            <a:endParaRPr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425196" y="4309005"/>
            <a:ext cx="4423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900"/>
              <a:buFont typeface="Calibri"/>
              <a:buNone/>
            </a:pPr>
            <a:r>
              <a:rPr i="1" lang="it" sz="9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Comparable to the loop state that PCCA++ does resolve (0.32 µs) — so these are probably genuine kinetic subdivisions that would appear with more macrostates.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27" title="Screenshot 2026-07-18 at 18.00.5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0005" y="1952073"/>
            <a:ext cx="3990497" cy="3010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8"/>
          <p:cNvSpPr/>
          <p:nvPr/>
        </p:nvSpPr>
        <p:spPr>
          <a:xfrm>
            <a:off x="871911" y="1073245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DC3C"/>
              </a:buClr>
              <a:buSzPts val="1300"/>
              <a:buFont typeface="Calibri"/>
              <a:buNone/>
            </a:pPr>
            <a:r>
              <a:rPr b="1" i="0" lang="it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dominant process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871911" y="1361281"/>
            <a:ext cx="7680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DED4E8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≈ 1/3 unfolded, ≈ 2/3 folded — separated by the hydrophobic core and helix-1/helix-3 packing, not by secondary-structure content.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>
            <a:off x="871911" y="1978501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DC3C"/>
              </a:buClr>
              <a:buSzPts val="1300"/>
              <a:buFont typeface="Calibri"/>
              <a:buNone/>
            </a:pPr>
            <a:r>
              <a:rPr b="1" i="0" lang="it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≈1% compact non-native state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871911" y="2266537"/>
            <a:ext cx="7680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DED4E8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lifetime ~1 µs, a β-hairpin-like segment in place of helix 1: a putative kinetic trap, resolved only from contact features.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871911" y="2883757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DC3C"/>
              </a:buClr>
              <a:buSzPts val="1300"/>
              <a:buFont typeface="Calibri"/>
              <a:buNone/>
            </a:pPr>
            <a:r>
              <a:rPr b="1" i="0" lang="it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substates in the folded basin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871911" y="3171793"/>
            <a:ext cx="7680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DED4E8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comparable population, differing in the N-terminus — Asp3 in αR vs αL, and the native contacts of Leu1.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323285" y="3989148"/>
            <a:ext cx="7852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8FD744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methodological point:  </a:t>
            </a:r>
            <a:r>
              <a:rPr b="0" i="0" lang="it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trajectory, four defensible pipelines, and different answers</a:t>
            </a:r>
            <a:r>
              <a:rPr lang="it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it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one says two-state, one finds a trap visible only in contact space, one finds a loop state visible only in dihedral space</a:t>
            </a:r>
            <a:r>
              <a:rPr lang="it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dihedral-based models split the “folded” side of the main basin into an almost-folded and a folded conformation, distance-based models do not.</a:t>
            </a:r>
            <a:r>
              <a:rPr b="0" i="0" lang="it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28" title="Screenshot 2026-07-18 at 14.47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6825" y="254763"/>
            <a:ext cx="680698" cy="519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niversità_Padova.svg – 800 anni unipd" id="327" name="Google Shape;32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9802" y="174200"/>
            <a:ext cx="680698" cy="6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8"/>
          <p:cNvSpPr txBox="1"/>
          <p:nvPr/>
        </p:nvSpPr>
        <p:spPr>
          <a:xfrm>
            <a:off x="120600" y="314450"/>
            <a:ext cx="703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Findings about HP35 and model-dependence</a:t>
            </a:r>
            <a:endParaRPr b="1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217198" y="174200"/>
            <a:ext cx="11007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18C"/>
              </a:buClr>
              <a:buSzPts val="800"/>
              <a:buFont typeface="Calibri"/>
              <a:buNone/>
            </a:pPr>
            <a:r>
              <a:rPr lang="it" sz="1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i="0" sz="1000" u="none" cap="none" strike="noStrike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277279" y="1101906"/>
            <a:ext cx="342900" cy="342900"/>
          </a:xfrm>
          <a:prstGeom prst="ellipse">
            <a:avLst/>
          </a:prstGeom>
          <a:solidFill>
            <a:srgbClr val="A61C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1" name="Google Shape;331;p28"/>
          <p:cNvSpPr txBox="1"/>
          <p:nvPr/>
        </p:nvSpPr>
        <p:spPr>
          <a:xfrm>
            <a:off x="334475" y="1073250"/>
            <a:ext cx="3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/>
          <p:nvPr/>
        </p:nvSpPr>
        <p:spPr>
          <a:xfrm>
            <a:off x="285979" y="1989981"/>
            <a:ext cx="342900" cy="342900"/>
          </a:xfrm>
          <a:prstGeom prst="ellipse">
            <a:avLst/>
          </a:prstGeom>
          <a:solidFill>
            <a:srgbClr val="A61C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3" name="Google Shape;333;p28"/>
          <p:cNvSpPr txBox="1"/>
          <p:nvPr/>
        </p:nvSpPr>
        <p:spPr>
          <a:xfrm>
            <a:off x="325775" y="1961325"/>
            <a:ext cx="3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248679" y="2849406"/>
            <a:ext cx="342900" cy="342900"/>
          </a:xfrm>
          <a:prstGeom prst="ellipse">
            <a:avLst/>
          </a:prstGeom>
          <a:solidFill>
            <a:srgbClr val="A61C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5" name="Google Shape;335;p28"/>
          <p:cNvSpPr txBox="1"/>
          <p:nvPr/>
        </p:nvSpPr>
        <p:spPr>
          <a:xfrm>
            <a:off x="271075" y="2820738"/>
            <a:ext cx="3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/>
          <p:nvPr/>
        </p:nvSpPr>
        <p:spPr>
          <a:xfrm>
            <a:off x="3429004" y="1248156"/>
            <a:ext cx="342900" cy="342900"/>
          </a:xfrm>
          <a:prstGeom prst="ellipse">
            <a:avLst/>
          </a:prstGeom>
          <a:solidFill>
            <a:srgbClr val="A61C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1" name="Google Shape;341;p29"/>
          <p:cNvSpPr/>
          <p:nvPr/>
        </p:nvSpPr>
        <p:spPr>
          <a:xfrm>
            <a:off x="603504" y="1700784"/>
            <a:ext cx="226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DC3C"/>
              </a:buClr>
              <a:buSzPts val="1200"/>
              <a:buFont typeface="Calibri"/>
              <a:buNone/>
            </a:pPr>
            <a:r>
              <a:rPr b="1" i="0" lang="it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macrostates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9"/>
          <p:cNvSpPr/>
          <p:nvPr/>
        </p:nvSpPr>
        <p:spPr>
          <a:xfrm>
            <a:off x="603504" y="2002536"/>
            <a:ext cx="22770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DED4E8"/>
              </a:buClr>
              <a:buSzPts val="900"/>
              <a:buFont typeface="Calibri"/>
              <a:buNone/>
            </a:pPr>
            <a:r>
              <a:rPr b="0" i="0" lang="it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PCCA++ beyond n = 3, especially for the tICA models — the substates found by hand should emerge there.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9"/>
          <p:cNvSpPr/>
          <p:nvPr/>
        </p:nvSpPr>
        <p:spPr>
          <a:xfrm>
            <a:off x="3429000" y="1700784"/>
            <a:ext cx="226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DC3C"/>
              </a:buClr>
              <a:buSzPts val="1200"/>
              <a:buFont typeface="Calibri"/>
              <a:buNone/>
            </a:pPr>
            <a:r>
              <a:rPr b="1" i="0" lang="it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Systematic state comparison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9"/>
          <p:cNvSpPr/>
          <p:nvPr/>
        </p:nvSpPr>
        <p:spPr>
          <a:xfrm>
            <a:off x="3429000" y="2002536"/>
            <a:ext cx="22770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DED4E8"/>
              </a:buClr>
              <a:buSzPts val="900"/>
              <a:buFont typeface="Calibri"/>
              <a:buNone/>
            </a:pPr>
            <a:r>
              <a:rPr b="0" i="0" lang="it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 metastable states across all four pipelines, rather than pairwise at the two-state level.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9"/>
          <p:cNvSpPr/>
          <p:nvPr/>
        </p:nvSpPr>
        <p:spPr>
          <a:xfrm>
            <a:off x="6254496" y="1700784"/>
            <a:ext cx="226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DC3C"/>
              </a:buClr>
              <a:buSzPts val="1200"/>
              <a:buFont typeface="Calibri"/>
              <a:buNone/>
            </a:pPr>
            <a:r>
              <a:rPr b="1" i="0" lang="it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Kinetics, not just populations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9"/>
          <p:cNvSpPr/>
          <p:nvPr/>
        </p:nvSpPr>
        <p:spPr>
          <a:xfrm>
            <a:off x="6254496" y="2002536"/>
            <a:ext cx="22770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DED4E8"/>
              </a:buClr>
              <a:buSzPts val="900"/>
              <a:buFont typeface="Calibri"/>
              <a:buNone/>
            </a:pPr>
            <a:r>
              <a:rPr b="0" i="0" lang="it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transition path theory at the microstate level: dominant folding pathways and fluxes between states.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9"/>
          <p:cNvSpPr/>
          <p:nvPr/>
        </p:nvSpPr>
        <p:spPr>
          <a:xfrm>
            <a:off x="411480" y="3120390"/>
            <a:ext cx="8298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it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9"/>
          <p:cNvSpPr/>
          <p:nvPr/>
        </p:nvSpPr>
        <p:spPr>
          <a:xfrm>
            <a:off x="425196" y="3669030"/>
            <a:ext cx="829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BD6"/>
              </a:buClr>
              <a:buSzPts val="1100"/>
              <a:buFont typeface="Calibri"/>
              <a:buNone/>
            </a:pPr>
            <a:r>
              <a:rPr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 welcome — I have backup slides on the discretisation choice, the CK test, coring and the F₁/F₂ dwell times.</a:t>
            </a:r>
            <a:endParaRPr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9"/>
          <p:cNvSpPr/>
          <p:nvPr/>
        </p:nvSpPr>
        <p:spPr>
          <a:xfrm>
            <a:off x="425196" y="4217670"/>
            <a:ext cx="829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744"/>
              </a:buClr>
              <a:buSzPts val="1000"/>
              <a:buFont typeface="Calibri"/>
              <a:buNone/>
            </a:pPr>
            <a:r>
              <a:rPr b="1" i="0" lang="it" sz="1500" u="none" cap="none" strike="noStrike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Data </a:t>
            </a:r>
            <a:r>
              <a:rPr b="1" i="0" lang="it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i="0" lang="it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github.com/moldyn/HP35-DESRES       </a:t>
            </a:r>
            <a:r>
              <a:rPr i="0" lang="it" sz="1500" u="none" cap="none" strike="noStrike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it" sz="1500" u="none" cap="none" strike="noStrike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r>
              <a:rPr b="1" i="0" lang="it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i="0" lang="it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github.com/miriamzara/MSM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9"/>
          <p:cNvSpPr/>
          <p:nvPr/>
        </p:nvSpPr>
        <p:spPr>
          <a:xfrm>
            <a:off x="8572500" y="478688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7FA0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8E7FA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p29" title="Screenshot 2026-07-18 at 14.47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6825" y="254763"/>
            <a:ext cx="680698" cy="519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niversità_Padova.svg – 800 anni unipd" id="352" name="Google Shape;35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9802" y="174200"/>
            <a:ext cx="680698" cy="6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9"/>
          <p:cNvSpPr txBox="1"/>
          <p:nvPr/>
        </p:nvSpPr>
        <p:spPr>
          <a:xfrm>
            <a:off x="120600" y="314450"/>
            <a:ext cx="703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Some insights and lot of room for improvements</a:t>
            </a:r>
            <a:endParaRPr b="1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9"/>
          <p:cNvSpPr/>
          <p:nvPr/>
        </p:nvSpPr>
        <p:spPr>
          <a:xfrm>
            <a:off x="217198" y="174200"/>
            <a:ext cx="11007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18C"/>
              </a:buClr>
              <a:buSzPts val="800"/>
              <a:buFont typeface="Calibri"/>
              <a:buNone/>
            </a:pPr>
            <a:r>
              <a:rPr lang="it" sz="1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i="0" sz="1000" u="none" cap="none" strike="noStrike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9"/>
          <p:cNvSpPr/>
          <p:nvPr/>
        </p:nvSpPr>
        <p:spPr>
          <a:xfrm>
            <a:off x="603504" y="1248156"/>
            <a:ext cx="342900" cy="342900"/>
          </a:xfrm>
          <a:prstGeom prst="ellipse">
            <a:avLst/>
          </a:prstGeom>
          <a:solidFill>
            <a:srgbClr val="A61C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6" name="Google Shape;356;p29"/>
          <p:cNvSpPr/>
          <p:nvPr/>
        </p:nvSpPr>
        <p:spPr>
          <a:xfrm>
            <a:off x="6254504" y="1248156"/>
            <a:ext cx="342900" cy="342900"/>
          </a:xfrm>
          <a:prstGeom prst="ellipse">
            <a:avLst/>
          </a:prstGeom>
          <a:solidFill>
            <a:srgbClr val="A61C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7" name="Google Shape;357;p29"/>
          <p:cNvSpPr txBox="1"/>
          <p:nvPr/>
        </p:nvSpPr>
        <p:spPr>
          <a:xfrm>
            <a:off x="660700" y="1219500"/>
            <a:ext cx="3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9"/>
          <p:cNvSpPr txBox="1"/>
          <p:nvPr/>
        </p:nvSpPr>
        <p:spPr>
          <a:xfrm>
            <a:off x="3468800" y="1219500"/>
            <a:ext cx="3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9"/>
          <p:cNvSpPr txBox="1"/>
          <p:nvPr/>
        </p:nvSpPr>
        <p:spPr>
          <a:xfrm>
            <a:off x="6276900" y="1219488"/>
            <a:ext cx="3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0"/>
          <p:cNvSpPr/>
          <p:nvPr/>
        </p:nvSpPr>
        <p:spPr>
          <a:xfrm>
            <a:off x="411480" y="411480"/>
            <a:ext cx="8332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104F"/>
              </a:buClr>
              <a:buSzPts val="2100"/>
              <a:buFont typeface="Cambria"/>
              <a:buNone/>
            </a:pPr>
            <a:r>
              <a:rPr b="1" lang="it" sz="2100">
                <a:solidFill>
                  <a:srgbClr val="36104F"/>
                </a:solidFill>
                <a:latin typeface="Calibri"/>
                <a:ea typeface="Calibri"/>
                <a:cs typeface="Calibri"/>
                <a:sym typeface="Calibri"/>
              </a:rPr>
              <a:t>Choice of number of clusters and lagtime</a:t>
            </a:r>
            <a:endParaRPr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/sf2_its.png" id="366" name="Google Shape;36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9443" y="960120"/>
            <a:ext cx="4436545" cy="1611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fig/sf3_conn.png" id="367" name="Google Shape;36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0572" y="2674620"/>
            <a:ext cx="2882535" cy="2023109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0"/>
          <p:cNvSpPr/>
          <p:nvPr/>
        </p:nvSpPr>
        <p:spPr>
          <a:xfrm>
            <a:off x="6343650" y="2674620"/>
            <a:ext cx="2400300" cy="2023200"/>
          </a:xfrm>
          <a:prstGeom prst="roundRect">
            <a:avLst>
              <a:gd fmla="val 2712" name="adj"/>
            </a:avLst>
          </a:prstGeom>
          <a:solidFill>
            <a:srgbClr val="EAF4F3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0"/>
          <p:cNvSpPr/>
          <p:nvPr/>
        </p:nvSpPr>
        <p:spPr>
          <a:xfrm>
            <a:off x="6501384" y="2777490"/>
            <a:ext cx="2091600" cy="18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14615E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14615E"/>
                </a:solidFill>
                <a:latin typeface="Calibri"/>
                <a:ea typeface="Calibri"/>
                <a:cs typeface="Calibri"/>
                <a:sym typeface="Calibri"/>
              </a:rPr>
              <a:t>Timescales</a:t>
            </a:r>
            <a:r>
              <a:rPr b="0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 converge for all four pipelines and depend far more on the pipeline than on k.</a:t>
            </a:r>
            <a:br>
              <a:rPr b="0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it" sz="900" u="none" cap="none" strike="noStrike">
                <a:solidFill>
                  <a:srgbClr val="14615E"/>
                </a:solidFill>
                <a:latin typeface="Calibri"/>
                <a:ea typeface="Calibri"/>
                <a:cs typeface="Calibri"/>
                <a:sym typeface="Calibri"/>
              </a:rPr>
              <a:t>Connectivity</a:t>
            </a:r>
            <a:r>
              <a:rPr b="0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 degrades with more clusters and longer lags: at k = 100 the microstate network starts to disconnect.</a:t>
            </a:r>
            <a:br>
              <a:rPr b="0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k = 50, τ = 50 ns</a:t>
            </a:r>
            <a:r>
              <a:rPr b="0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 is the compromise — and the choice remains partly qualitative.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0"/>
          <p:cNvSpPr/>
          <p:nvPr/>
        </p:nvSpPr>
        <p:spPr>
          <a:xfrm>
            <a:off x="411480" y="4766310"/>
            <a:ext cx="5760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b="0" i="1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Top: implied timescales vs lag (SF2). Bottom left: largest connected component and active population vs lag (SF3).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0"/>
          <p:cNvSpPr/>
          <p:nvPr/>
        </p:nvSpPr>
        <p:spPr>
          <a:xfrm>
            <a:off x="8572500" y="478688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p30" title="Screenshot 2026-07-18 at 14.47.5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6825" y="254763"/>
            <a:ext cx="680698" cy="519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niversità_Padova.svg – 800 anni unipd" id="373" name="Google Shape;373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79802" y="174200"/>
            <a:ext cx="680698" cy="6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0"/>
          <p:cNvSpPr/>
          <p:nvPr/>
        </p:nvSpPr>
        <p:spPr>
          <a:xfrm>
            <a:off x="217198" y="174200"/>
            <a:ext cx="11007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18C"/>
              </a:buClr>
              <a:buSzPts val="800"/>
              <a:buFont typeface="Calibri"/>
              <a:buNone/>
            </a:pPr>
            <a:r>
              <a:rPr lang="it" sz="1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BACKUP</a:t>
            </a:r>
            <a:endParaRPr i="0" sz="1000" u="none" cap="none" strike="noStrike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0"/>
          <p:cNvSpPr txBox="1"/>
          <p:nvPr/>
        </p:nvSpPr>
        <p:spPr>
          <a:xfrm>
            <a:off x="6957275" y="1549975"/>
            <a:ext cx="117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100">
                <a:solidFill>
                  <a:srgbClr val="36104F"/>
                </a:solidFill>
                <a:latin typeface="Calibri"/>
                <a:ea typeface="Calibri"/>
                <a:cs typeface="Calibri"/>
                <a:sym typeface="Calibri"/>
              </a:rPr>
              <a:t>k = 50 </a:t>
            </a:r>
            <a:endParaRPr b="1" sz="2100">
              <a:solidFill>
                <a:srgbClr val="3610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100">
                <a:solidFill>
                  <a:srgbClr val="36104F"/>
                </a:solidFill>
                <a:latin typeface="Calibri"/>
                <a:ea typeface="Calibri"/>
                <a:cs typeface="Calibri"/>
                <a:sym typeface="Calibri"/>
              </a:rPr>
              <a:t>τ = 50 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1"/>
          <p:cNvSpPr/>
          <p:nvPr/>
        </p:nvSpPr>
        <p:spPr>
          <a:xfrm>
            <a:off x="411480" y="411480"/>
            <a:ext cx="8332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104F"/>
              </a:buClr>
              <a:buSzPts val="2100"/>
              <a:buFont typeface="Cambria"/>
              <a:buNone/>
            </a:pPr>
            <a:r>
              <a:rPr b="1" i="0" lang="it" sz="2100" u="none" cap="none" strike="noStrike">
                <a:solidFill>
                  <a:srgbClr val="36104F"/>
                </a:solidFill>
                <a:latin typeface="Calibri"/>
                <a:ea typeface="Calibri"/>
                <a:cs typeface="Calibri"/>
                <a:sym typeface="Calibri"/>
              </a:rPr>
              <a:t>Chapman–Kolmogorov test</a:t>
            </a:r>
            <a:endParaRPr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/sf4_ck.png" id="381" name="Google Shape;38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757" y="960120"/>
            <a:ext cx="3767726" cy="3703321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1"/>
          <p:cNvSpPr/>
          <p:nvPr/>
        </p:nvSpPr>
        <p:spPr>
          <a:xfrm>
            <a:off x="5177790" y="1097280"/>
            <a:ext cx="3566100" cy="2263200"/>
          </a:xfrm>
          <a:prstGeom prst="roundRect">
            <a:avLst>
              <a:gd fmla="val 2424" name="adj"/>
            </a:avLst>
          </a:prstGeom>
          <a:solidFill>
            <a:srgbClr val="EAF4F3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1"/>
          <p:cNvSpPr/>
          <p:nvPr/>
        </p:nvSpPr>
        <p:spPr>
          <a:xfrm>
            <a:off x="5349240" y="1200150"/>
            <a:ext cx="3257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4615E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14615E"/>
                </a:solidFill>
                <a:latin typeface="Calibri"/>
                <a:ea typeface="Calibri"/>
                <a:cs typeface="Calibri"/>
                <a:sym typeface="Calibri"/>
              </a:rPr>
              <a:t>The test.</a:t>
            </a:r>
            <a:r>
              <a:rPr b="0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 The microstate MSM at τ = 50 ns is lumped into four metastable sets. For a range of lag times kτ, the transition probabilities </a:t>
            </a:r>
            <a:r>
              <a:rPr b="1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predicted</a:t>
            </a:r>
            <a:r>
              <a:rPr b="0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 by the τ = 50 ns model (dashed) are compared with those </a:t>
            </a:r>
            <a:r>
              <a:rPr b="1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estimated independently</a:t>
            </a:r>
            <a:r>
              <a:rPr b="0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 at each lag (solid).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3232B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The two track closely and relax to consistent stationary values, so the model is approximately Markovian at the chosen lag.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1"/>
          <p:cNvSpPr/>
          <p:nvPr/>
        </p:nvSpPr>
        <p:spPr>
          <a:xfrm>
            <a:off x="5177790" y="3463290"/>
            <a:ext cx="3566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900"/>
              <a:buFont typeface="Calibri"/>
              <a:buNone/>
            </a:pPr>
            <a:r>
              <a:rPr b="0" i="1" lang="it" sz="9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Shown for pca-dihedrals; the other three behave similarly.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31" title="Screenshot 2026-07-18 at 14.47.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6825" y="254763"/>
            <a:ext cx="680698" cy="519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niversità_Padova.svg – 800 anni unipd" id="386" name="Google Shape;38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79802" y="174200"/>
            <a:ext cx="680698" cy="6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1"/>
          <p:cNvSpPr/>
          <p:nvPr/>
        </p:nvSpPr>
        <p:spPr>
          <a:xfrm>
            <a:off x="217198" y="174200"/>
            <a:ext cx="11007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18C"/>
              </a:buClr>
              <a:buSzPts val="800"/>
              <a:buFont typeface="Calibri"/>
              <a:buNone/>
            </a:pPr>
            <a:r>
              <a:rPr lang="it" sz="1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BACKUP</a:t>
            </a:r>
            <a:endParaRPr i="0" sz="1000" u="none" cap="none" strike="noStrike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2"/>
          <p:cNvSpPr/>
          <p:nvPr/>
        </p:nvSpPr>
        <p:spPr>
          <a:xfrm>
            <a:off x="411480" y="411480"/>
            <a:ext cx="8332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104F"/>
              </a:buClr>
              <a:buSzPts val="2100"/>
              <a:buFont typeface="Cambria"/>
              <a:buNone/>
            </a:pPr>
            <a:r>
              <a:rPr b="1" i="0" lang="it" sz="2100" u="none" cap="none" strike="noStrike">
                <a:solidFill>
                  <a:srgbClr val="36104F"/>
                </a:solidFill>
                <a:latin typeface="Calibri"/>
                <a:ea typeface="Calibri"/>
                <a:cs typeface="Calibri"/>
                <a:sym typeface="Calibri"/>
              </a:rPr>
              <a:t>Dynamical coring removes boundary recrossings</a:t>
            </a:r>
            <a:endParaRPr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/sf8_coring.png" id="393" name="Google Shape;39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6035" y="1028700"/>
            <a:ext cx="5543360" cy="212598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2"/>
          <p:cNvSpPr/>
          <p:nvPr/>
        </p:nvSpPr>
        <p:spPr>
          <a:xfrm>
            <a:off x="411480" y="3326130"/>
            <a:ext cx="4046100" cy="1371600"/>
          </a:xfrm>
          <a:prstGeom prst="roundRect">
            <a:avLst>
              <a:gd fmla="val 4000" name="adj"/>
            </a:avLst>
          </a:prstGeom>
          <a:solidFill>
            <a:srgbClr val="EAF4F3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2"/>
          <p:cNvSpPr/>
          <p:nvPr/>
        </p:nvSpPr>
        <p:spPr>
          <a:xfrm>
            <a:off x="582930" y="3429000"/>
            <a:ext cx="37377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4615E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14615E"/>
                </a:solidFill>
                <a:latin typeface="Calibri"/>
                <a:ea typeface="Calibri"/>
                <a:cs typeface="Calibri"/>
                <a:sym typeface="Calibri"/>
              </a:rPr>
              <a:t>The problem.</a:t>
            </a:r>
            <a:r>
              <a:rPr b="0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 Assigning every frame to its highest-membership macrostate produces rapid recrossings near a state boundary. These inflate the apparent number of transitions, and mostly reflect boundary noise rather than genuine interstate crossings.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4697730" y="3326130"/>
            <a:ext cx="4046100" cy="1371600"/>
          </a:xfrm>
          <a:prstGeom prst="roundRect">
            <a:avLst>
              <a:gd fmla="val 4000" name="adj"/>
            </a:avLst>
          </a:prstGeom>
          <a:solidFill>
            <a:srgbClr val="F4F1F7"/>
          </a:solidFill>
          <a:ln cap="flat" cmpd="sng" w="12700">
            <a:solidFill>
              <a:srgbClr val="F4F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2"/>
          <p:cNvSpPr/>
          <p:nvPr/>
        </p:nvSpPr>
        <p:spPr>
          <a:xfrm>
            <a:off x="4869180" y="3429000"/>
            <a:ext cx="37377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4615E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14615E"/>
                </a:solidFill>
                <a:latin typeface="Calibri"/>
                <a:ea typeface="Calibri"/>
                <a:cs typeface="Calibri"/>
                <a:sym typeface="Calibri"/>
              </a:rPr>
              <a:t>The fix.</a:t>
            </a:r>
            <a:r>
              <a:rPr b="0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 A transition into a new macrostate is registered only once the trajectory stays there for at least t</a:t>
            </a:r>
            <a:r>
              <a:rPr b="0" baseline="-25000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0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 = τ = 50 ns, so only long-lived occupancies survive. Grey = raw assignment, black = cored. All lifetimes and empirical populations quoted here are computed from the cored trajectory.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2"/>
          <p:cNvSpPr/>
          <p:nvPr/>
        </p:nvSpPr>
        <p:spPr>
          <a:xfrm>
            <a:off x="8572500" y="478688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p32" title="Screenshot 2026-07-18 at 14.47.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6825" y="254763"/>
            <a:ext cx="680698" cy="519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niversità_Padova.svg – 800 anni unipd" id="400" name="Google Shape;40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79802" y="174200"/>
            <a:ext cx="680698" cy="6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2"/>
          <p:cNvSpPr/>
          <p:nvPr/>
        </p:nvSpPr>
        <p:spPr>
          <a:xfrm>
            <a:off x="217198" y="174200"/>
            <a:ext cx="11007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18C"/>
              </a:buClr>
              <a:buSzPts val="800"/>
              <a:buFont typeface="Calibri"/>
              <a:buNone/>
            </a:pPr>
            <a:r>
              <a:rPr lang="it" sz="1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BACKUP</a:t>
            </a:r>
            <a:endParaRPr i="0" sz="1000" u="none" cap="none" strike="noStrike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3"/>
          <p:cNvSpPr/>
          <p:nvPr/>
        </p:nvSpPr>
        <p:spPr>
          <a:xfrm>
            <a:off x="411480" y="411480"/>
            <a:ext cx="8332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104F"/>
              </a:buClr>
              <a:buSzPts val="2100"/>
              <a:buFont typeface="Cambria"/>
              <a:buNone/>
            </a:pPr>
            <a:r>
              <a:rPr b="1" i="0" lang="it" sz="2100" u="none" cap="none" strike="noStrike">
                <a:solidFill>
                  <a:srgbClr val="36104F"/>
                </a:solidFill>
                <a:latin typeface="Calibri"/>
                <a:ea typeface="Calibri"/>
                <a:cs typeface="Calibri"/>
                <a:sym typeface="Calibri"/>
              </a:rPr>
              <a:t>F₁ and F₂ </a:t>
            </a:r>
            <a:r>
              <a:rPr b="1" lang="it" sz="2100">
                <a:solidFill>
                  <a:srgbClr val="36104F"/>
                </a:solidFill>
                <a:latin typeface="Calibri"/>
                <a:ea typeface="Calibri"/>
                <a:cs typeface="Calibri"/>
                <a:sym typeface="Calibri"/>
              </a:rPr>
              <a:t>lifetimes</a:t>
            </a:r>
            <a:endParaRPr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7" name="Google Shape;407;p33"/>
          <p:cNvGraphicFramePr/>
          <p:nvPr/>
        </p:nvGraphicFramePr>
        <p:xfrm>
          <a:off x="411480" y="102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{808AB4DE-659D-4501-A775-EF03DCB6226C}</a:tableStyleId>
              </a:tblPr>
              <a:tblGrid>
                <a:gridCol w="1200150"/>
                <a:gridCol w="514350"/>
                <a:gridCol w="617200"/>
                <a:gridCol w="651500"/>
                <a:gridCol w="685800"/>
                <a:gridCol w="651500"/>
              </a:tblGrid>
              <a:tr h="28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 visits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[µs]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Median [µs]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Population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tica-dihedrals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F₁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177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0.603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0.463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0.350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tica-dihedrals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F₂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0.658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0.435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0.313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pca-dihedrals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F₁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0.529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0.412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0.338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pca-dihedrals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F₂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0.676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0.480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B"/>
                        </a:buClr>
                        <a:buSzPts val="900"/>
                        <a:buFont typeface="Calibri"/>
                        <a:buNone/>
                      </a:pPr>
                      <a:r>
                        <a:rPr lang="it" sz="900" u="none" cap="none" strike="noStrike">
                          <a:solidFill>
                            <a:srgbClr val="2323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0.321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8" name="Google Shape;408;p33"/>
          <p:cNvSpPr/>
          <p:nvPr/>
        </p:nvSpPr>
        <p:spPr>
          <a:xfrm>
            <a:off x="411480" y="2571750"/>
            <a:ext cx="432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b="0" i="1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Residence times in the two folded sub-basins, from the cored microstate trajectory of each dihedral model.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3"/>
          <p:cNvSpPr/>
          <p:nvPr/>
        </p:nvSpPr>
        <p:spPr>
          <a:xfrm>
            <a:off x="411480" y="3017520"/>
            <a:ext cx="4320600" cy="1680300"/>
          </a:xfrm>
          <a:prstGeom prst="roundRect">
            <a:avLst>
              <a:gd fmla="val 3265" name="adj"/>
            </a:avLst>
          </a:prstGeom>
          <a:solidFill>
            <a:srgbClr val="EAF4F3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3"/>
          <p:cNvSpPr/>
          <p:nvPr/>
        </p:nvSpPr>
        <p:spPr>
          <a:xfrm>
            <a:off x="582930" y="3120390"/>
            <a:ext cx="40119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4615E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14615E"/>
                </a:solidFill>
                <a:latin typeface="Calibri"/>
                <a:ea typeface="Calibri"/>
                <a:cs typeface="Calibri"/>
                <a:sym typeface="Calibri"/>
              </a:rPr>
              <a:t>Yes, in the kinetic sense that matters here.</a:t>
            </a:r>
            <a:r>
              <a:rPr b="0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 The dwell-time distributions are close to single-exponential (right), which is what a single metastable basin should give, and the median residence of ≈ 0.4 µs is comparable to the loop macrostate that PCCA++ </a:t>
            </a:r>
            <a:r>
              <a:rPr b="1" i="1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does</a:t>
            </a:r>
            <a:r>
              <a:rPr b="0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 resolve on tica-dihedrals (0.32 µs).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3232B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23232B"/>
                </a:solidFill>
                <a:latin typeface="Calibri"/>
                <a:ea typeface="Calibri"/>
                <a:cs typeface="Calibri"/>
                <a:sym typeface="Calibri"/>
              </a:rPr>
              <a:t>That PCCA++ resolves one and not the other is not a contradiction: F₁/F₂ are a finer subdivision that should appear with more than three macrostates.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/sf10_surv.png" id="411" name="Google Shape;41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60" y="1728115"/>
            <a:ext cx="3806189" cy="1618689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3"/>
          <p:cNvSpPr/>
          <p:nvPr/>
        </p:nvSpPr>
        <p:spPr>
          <a:xfrm>
            <a:off x="4937760" y="3703320"/>
            <a:ext cx="380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b="0" i="1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Survival probability P(T &gt; t) with an exponential fit, for both dihedral models.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3"/>
          <p:cNvSpPr/>
          <p:nvPr/>
        </p:nvSpPr>
        <p:spPr>
          <a:xfrm>
            <a:off x="8572500" y="478688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E7B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6E6E7B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4" name="Google Shape;414;p33" title="Screenshot 2026-07-18 at 14.47.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6825" y="254763"/>
            <a:ext cx="680698" cy="519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niversità_Padova.svg – 800 anni unipd" id="415" name="Google Shape;41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79802" y="174200"/>
            <a:ext cx="680698" cy="6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3"/>
          <p:cNvSpPr/>
          <p:nvPr/>
        </p:nvSpPr>
        <p:spPr>
          <a:xfrm>
            <a:off x="217198" y="174200"/>
            <a:ext cx="11007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18C"/>
              </a:buClr>
              <a:buSzPts val="800"/>
              <a:buFont typeface="Calibri"/>
              <a:buNone/>
            </a:pPr>
            <a:r>
              <a:rPr lang="it" sz="1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BACKUP</a:t>
            </a:r>
            <a:endParaRPr i="0" sz="1000" u="none" cap="none" strike="noStrike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